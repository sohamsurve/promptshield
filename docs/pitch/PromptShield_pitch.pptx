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DFF"/>
          </a:solidFill>
          <a:ln>
            <a:solidFill>
              <a:srgbClr val="6A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141732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6A4DFF"/>
                </a:solidFill>
                <a:latin typeface="Arial"/>
              </a:rPr>
              <a:t>ET AI HACKATHON  ·  AGENTIC EDITION  ·  PROBLEM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737360"/>
            <a:ext cx="9144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>
                <a:solidFill>
                  <a:srgbClr val="0E1726"/>
                </a:solidFill>
                <a:latin typeface="Arial"/>
              </a:rPr>
              <a:t>PromptShield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0">
                <a:solidFill>
                  <a:srgbClr val="0E1726"/>
                </a:solidFill>
                <a:latin typeface="Arial"/>
              </a:rPr>
              <a:t>A prompt-injection firewall for AI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5B667A"/>
                </a:solidFill>
                <a:latin typeface="Arial"/>
              </a:rPr>
              <a:t>It checks untrusted text and files before the model sees them,
neutralises the hidden instruction, and still lets the ordinary text through.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" y="4352544"/>
            <a:ext cx="6949440" cy="7772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6949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07408"/>
            <a:ext cx="1188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B667A"/>
                </a:solidFill>
                <a:latin typeface="Arial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63440"/>
            <a:ext cx="6492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https://github.com/Sohamsurve/PromptShield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E1726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5B667A"/>
                </a:solidFill>
                <a:latin typeface="Arial"/>
              </a:rPr>
              <a:t>Agents treat retrieved content as instructions.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609344"/>
            <a:ext cx="3611880" cy="320040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611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317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1726"/>
                </a:solidFill>
                <a:latin typeface="Arial"/>
              </a:rPr>
              <a:t>Hidden instruction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3154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A line in an email, PDF, or web page can override the task the user actually asked for.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52544" y="1609344"/>
            <a:ext cx="3611880" cy="320040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554480"/>
            <a:ext cx="3611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1726"/>
                </a:solidFill>
                <a:latin typeface="Arial"/>
              </a:rPr>
              <a:t>Side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108960"/>
            <a:ext cx="3154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The same line can ask the agent to reveal a secret or call a tool such as send-email.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609344"/>
            <a:ext cx="3611880" cy="320040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54480"/>
            <a:ext cx="361188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3317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0E1726"/>
                </a:solidFill>
                <a:latin typeface="Arial"/>
              </a:rPr>
              <a:t>Wrong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108960"/>
            <a:ext cx="31546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A toxicity filter does not catch this. Tool permissions still matter, and this firewall does not replace them.</a:t>
            </a:r>
          </a:p>
        </p:txBody>
      </p:sp>
      <p:pic>
        <p:nvPicPr>
          <p:cNvPr id="20" name="Picture 19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E1726"/>
                </a:solidFill>
                <a:latin typeface="Arial"/>
              </a:rPr>
              <a:t>What the prototype does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06424"/>
            <a:ext cx="7589520" cy="10058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7589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19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Scan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Every prompt and file is checked before it reaches the agent.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249424"/>
            <a:ext cx="7589520" cy="10058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7589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Redact the span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Only the offending sentence is removed. The rest of the document stays.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392424"/>
            <a:ext cx="7589520" cy="10058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37560"/>
            <a:ext cx="7589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74720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Safe alternative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13048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On block or quarantine, the caller gets the benign remainder, not the attack.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4535424"/>
            <a:ext cx="7589520" cy="10058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75895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71323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Tool firewall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56048"/>
            <a:ext cx="7132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A tainted send-email is denied even when text scanning is switched off.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051560"/>
            <a:ext cx="3291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Five answers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75904" y="1563624"/>
            <a:ext cx="3383280" cy="65836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508760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1508760"/>
            <a:ext cx="109728" cy="658368"/>
          </a:xfrm>
          <a:prstGeom prst="rect">
            <a:avLst/>
          </a:prstGeom>
          <a:solidFill>
            <a:srgbClr val="138A5B"/>
          </a:solidFill>
          <a:ln>
            <a:solidFill>
              <a:srgbClr val="138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1673351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38A5B"/>
                </a:solidFill>
                <a:latin typeface="Arial"/>
              </a:rPr>
              <a:t>Allowed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75904" y="2340864"/>
            <a:ext cx="3383280" cy="65836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2286000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2286000"/>
            <a:ext cx="109728" cy="658368"/>
          </a:xfrm>
          <a:prstGeom prst="rect">
            <a:avLst/>
          </a:prstGeom>
          <a:solidFill>
            <a:srgbClr val="B26B00"/>
          </a:solidFill>
          <a:ln>
            <a:solidFill>
              <a:srgbClr val="B2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245059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B26B00"/>
                </a:solidFill>
                <a:latin typeface="Arial"/>
              </a:rPr>
              <a:t>Sanitised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75904" y="3118103"/>
            <a:ext cx="3383280" cy="65836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3063239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063239"/>
            <a:ext cx="109728" cy="658368"/>
          </a:xfrm>
          <a:prstGeom prst="rect">
            <a:avLst/>
          </a:prstGeom>
          <a:solidFill>
            <a:srgbClr val="0B7BA7"/>
          </a:solidFill>
          <a:ln>
            <a:solidFill>
              <a:srgbClr val="0B7B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322783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B7BA7"/>
                </a:solidFill>
                <a:latin typeface="Arial"/>
              </a:rPr>
              <a:t>Quarantined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75904" y="3895343"/>
            <a:ext cx="3383280" cy="65836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21040" y="3840479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3840479"/>
            <a:ext cx="109728" cy="658368"/>
          </a:xfrm>
          <a:prstGeom prst="rect">
            <a:avLst/>
          </a:prstGeom>
          <a:solidFill>
            <a:srgbClr val="C62839"/>
          </a:solidFill>
          <a:ln>
            <a:solidFill>
              <a:srgbClr val="C628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4005071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62839"/>
                </a:solidFill>
                <a:latin typeface="Arial"/>
              </a:rPr>
              <a:t>Blocked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4672583"/>
            <a:ext cx="3383280" cy="65836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21040" y="4617720"/>
            <a:ext cx="338328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321040" y="4617720"/>
            <a:ext cx="109728" cy="658368"/>
          </a:xfrm>
          <a:prstGeom prst="rect">
            <a:avLst/>
          </a:prstGeom>
          <a:solidFill>
            <a:srgbClr val="A4237A"/>
          </a:solidFill>
          <a:ln>
            <a:solidFill>
              <a:srgbClr val="A42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60" y="4782312"/>
            <a:ext cx="2926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A4237A"/>
                </a:solidFill>
                <a:latin typeface="Arial"/>
              </a:rPr>
              <a:t>Needs review</a:t>
            </a:r>
          </a:p>
        </p:txBody>
      </p:sp>
      <p:pic>
        <p:nvPicPr>
          <p:cNvPr id="41" name="Picture 40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E1726"/>
                </a:solidFill>
                <a:latin typeface="Arial"/>
              </a:rPr>
              <a:t>How one scan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06424"/>
            <a:ext cx="11247120" cy="84124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52728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161288"/>
            <a:ext cx="21945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280160"/>
            <a:ext cx="7863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Text, HTML, PDF, Word, email, Markdown, JSON, source, and images. Hidden text is surfaced.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2066544"/>
            <a:ext cx="11247120" cy="84124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11247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121408"/>
            <a:ext cx="21945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240280"/>
            <a:ext cx="7863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Signatures first, then a small classifier. Encoded text is decoded, with a depth cap.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3026664"/>
            <a:ext cx="11247120" cy="84124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11247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172968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081528"/>
            <a:ext cx="21945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200400"/>
            <a:ext cx="7863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Fusion picks the verdict. The language-model judge never decides alone.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986784"/>
            <a:ext cx="11247120" cy="84124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11247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33088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041648"/>
            <a:ext cx="21945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Neutralise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160520"/>
            <a:ext cx="7863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The span is redacted in the original text. A second scan checks the result.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" y="4946903"/>
            <a:ext cx="11247120" cy="841248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92040"/>
            <a:ext cx="1124712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093207"/>
            <a:ext cx="457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6A4D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01768"/>
            <a:ext cx="219456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0E1726"/>
                </a:solidFill>
                <a:latin typeface="Arial"/>
              </a:rPr>
              <a:t>Guard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5120640"/>
            <a:ext cx="78638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Before a side effect, the tool firewall checks taint, destination, and canaries.</a:t>
            </a:r>
          </a:p>
        </p:txBody>
      </p:sp>
      <p:pic>
        <p:nvPicPr>
          <p:cNvPr id="29" name="Picture 28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E1726"/>
                </a:solidFill>
                <a:latin typeface="Arial"/>
              </a:rPr>
              <a:t>What the video shows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9786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Landing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One specimen email. Ultraviolet marks only the hidden instruction.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52544" y="119786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14300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7830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Arena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The same email, firewall off and on. The unprotected agent follows the hidden 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4" y="119786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37160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78308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X-ray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Revealed view, reason codes, and the safe alternative without the canary.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" y="352958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7472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14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Clean pass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A normal security article stays Allowed.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52544" y="352958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47472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114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Last 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17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Text scanning off. A tainted send-email is still denied.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4" y="3529584"/>
            <a:ext cx="361188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3474720"/>
            <a:ext cx="361188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703320"/>
            <a:ext cx="31089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6A4DFF"/>
                </a:solidFill>
                <a:latin typeface="Arial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114800"/>
            <a:ext cx="3154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0E1726"/>
                </a:solidFill>
                <a:latin typeface="Arial"/>
              </a:rPr>
              <a:t>Accounts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61772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A caller scans a file. An admin sees each account’s usage.</a:t>
            </a:r>
          </a:p>
        </p:txBody>
      </p:sp>
      <p:pic>
        <p:nvPicPr>
          <p:cNvPr id="34" name="Picture 33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9728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0E1726"/>
                </a:solidFill>
                <a:latin typeface="Arial"/>
              </a:rPr>
              <a:t>Measured on the frozen golden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Judge off. Shipped policy. 11 October 2026. Not tuned on these 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064" y="1289304"/>
            <a:ext cx="2743200" cy="196596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0E1726"/>
                </a:solidFill>
                <a:latin typeface="Arial"/>
              </a:rPr>
              <a:t>0.61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1726"/>
                </a:solidFill>
                <a:latin typeface="Arial"/>
              </a:rPr>
              <a:t>Acted 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67A"/>
                </a:solidFill>
                <a:latin typeface="Arial"/>
              </a:rPr>
              <a:t>900 attacks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144" y="1289304"/>
            <a:ext cx="2743200" cy="196596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4173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0E1726"/>
                </a:solidFill>
                <a:latin typeface="Arial"/>
              </a:rPr>
              <a:t>0.48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1726"/>
                </a:solidFill>
                <a:latin typeface="Arial"/>
              </a:rPr>
              <a:t>Correct 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56032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67A"/>
                </a:solidFill>
                <a:latin typeface="Arial"/>
              </a:rPr>
              <a:t>900 attacks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64224" y="1289304"/>
            <a:ext cx="2743200" cy="196596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23444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173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0E1726"/>
                </a:solidFill>
                <a:latin typeface="Arial"/>
              </a:rPr>
              <a:t>0 / 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1726"/>
                </a:solidFill>
                <a:latin typeface="Arial"/>
              </a:rPr>
              <a:t>False positives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6032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67A"/>
                </a:solidFill>
                <a:latin typeface="Arial"/>
              </a:rPr>
              <a:t>Ordinary documents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0304" y="1289304"/>
            <a:ext cx="2743200" cy="196596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234440"/>
            <a:ext cx="27432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141732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0E1726"/>
                </a:solidFill>
                <a:latin typeface="Arial"/>
              </a:rPr>
              <a:t>26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214884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0E1726"/>
                </a:solidFill>
                <a:latin typeface="Arial"/>
              </a:rPr>
              <a:t>Latency p95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560320"/>
            <a:ext cx="24688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5B667A"/>
                </a:solidFill>
                <a:latin typeface="Arial"/>
              </a:rPr>
              <a:t>Without the judge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" y="3529584"/>
            <a:ext cx="3611880" cy="155448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474720"/>
            <a:ext cx="3611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576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Caught in 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1480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Indirect injection, 100 of 100 on this suite.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52544" y="3529584"/>
            <a:ext cx="3611880" cy="155448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474720"/>
            <a:ext cx="3611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6280" y="36576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Still weak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411480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Multi-step jailbreaks: acted 0.35, correct type 0.00.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93024" y="3529584"/>
            <a:ext cx="3611880" cy="155448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474720"/>
            <a:ext cx="361188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6760" y="3657600"/>
            <a:ext cx="3154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Other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114800"/>
            <a:ext cx="31546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5B667A"/>
                </a:solidFill>
                <a:latin typeface="Arial"/>
              </a:rPr>
              <a:t>Imported sentences: acted 0.18, false positives 0 of 32.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2120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667A"/>
                </a:solidFill>
                <a:latin typeface="Arial"/>
              </a:rPr>
              <a:t>Full table: docs/CLAIMS.md  ·  Report: eval/golden/reports/20261011T090211Z</a:t>
            </a:r>
          </a:p>
        </p:txBody>
      </p:sp>
      <p:pic>
        <p:nvPicPr>
          <p:cNvPr id="38" name="Picture 37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0E1726"/>
                </a:solidFill>
                <a:latin typeface="Arial"/>
              </a:rPr>
              <a:t>What we declare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06424"/>
            <a:ext cx="548640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0292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6A4DFF"/>
                </a:solidFill>
                <a:latin typeface="Arial"/>
              </a:rPr>
              <a:t>F1  /  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50292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Provisional. Nine attack types and the listed formats are in the product. An independent sealed run has not been scored.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2783" y="1106424"/>
            <a:ext cx="5486400" cy="210312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5156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80160"/>
            <a:ext cx="50292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62839"/>
                </a:solidFill>
                <a:latin typeface="Arial"/>
              </a:rPr>
              <a:t>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74519"/>
            <a:ext cx="50292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5B667A"/>
                </a:solidFill>
                <a:latin typeface="Arial"/>
              </a:rPr>
              <a:t>F3 and D3. Known-pattern recall of 0.95. Held-out recall of 0.85. A length-matched false-positive rate at or under 2 percent.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438144"/>
            <a:ext cx="11247120" cy="713232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1247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6616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E1726"/>
                </a:solidFill>
                <a:latin typeface="Arial"/>
              </a:rPr>
              <a:t>Exact white-on-white text is not in the pixels, so OCR cannot read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" y="4261104"/>
            <a:ext cx="11247120" cy="713232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06240"/>
            <a:ext cx="11247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E1726"/>
                </a:solidFill>
                <a:latin typeface="Arial"/>
              </a:rPr>
              <a:t>The Arena agent is scripted. A live language-model agent was not the measured subject.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" y="5084064"/>
            <a:ext cx="11247120" cy="713232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1124712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12080"/>
            <a:ext cx="107899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0E1726"/>
                </a:solidFill>
                <a:latin typeface="Arial"/>
              </a:rPr>
              <a:t>The judge can add a finding. It cannot block a document by itself.</a:t>
            </a:r>
          </a:p>
        </p:txBody>
      </p:sp>
      <p:pic>
        <p:nvPicPr>
          <p:cNvPr id="21" name="Picture 20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4DFF"/>
          </a:solidFill>
          <a:ln>
            <a:solidFill>
              <a:srgbClr val="6A4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1051560" cy="1051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83080" y="2011680"/>
            <a:ext cx="9144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0E1726"/>
                </a:solidFill>
                <a:latin typeface="Arial"/>
              </a:rPr>
              <a:t>PromptShield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0E1726"/>
                </a:solidFill>
                <a:latin typeface="Arial"/>
              </a:rPr>
              <a:t>Check the content. Remove the attack. Keep the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57784" y="3849624"/>
            <a:ext cx="6949440" cy="777240"/>
          </a:xfrm>
          <a:prstGeom prst="rect">
            <a:avLst/>
          </a:prstGeom>
          <a:solidFill>
            <a:srgbClr val="0E1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794760"/>
            <a:ext cx="69494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904487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5B667A"/>
                </a:solidFill>
                <a:latin typeface="Arial"/>
              </a:rP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64922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E1726"/>
                </a:solidFill>
                <a:latin typeface="Arial"/>
              </a:rPr>
              <a:t>https://github.com/Sohamsurve/PromptShield</a:t>
            </a:r>
          </a:p>
        </p:txBody>
      </p:sp>
      <p:pic>
        <p:nvPicPr>
          <p:cNvPr id="11" name="Picture 10" descr="fav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6446520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8096" y="6510528"/>
            <a:ext cx="7315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5B667A"/>
                </a:solidFill>
                <a:latin typeface="Arial"/>
              </a:rPr>
              <a:t>PromptShield  ·  ET AI Hackathon  ·  Problem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667A"/>
                </a:solidFill>
                <a:latin typeface="Arial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