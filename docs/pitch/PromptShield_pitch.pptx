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A4DFF"/>
          </a:solidFill>
          <a:ln>
            <a:solidFill>
              <a:srgbClr val="6A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141732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6A4DFF"/>
                </a:solidFill>
                <a:latin typeface="Arial"/>
              </a:rPr>
              <a:t>ET AI HACKATHON  ·  AGENTIC EDITION  ·  PROBLEM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737360"/>
            <a:ext cx="91440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400" b="1">
                <a:solidFill>
                  <a:srgbClr val="0E1726"/>
                </a:solidFill>
                <a:latin typeface="Arial"/>
              </a:rPr>
              <a:t>PromptShield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06040"/>
            <a:ext cx="9144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0">
                <a:solidFill>
                  <a:srgbClr val="0E1726"/>
                </a:solidFill>
                <a:latin typeface="Arial"/>
              </a:rPr>
              <a:t>A prompt-injection firewall for AI agents.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00400"/>
            <a:ext cx="91440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5B667A"/>
                </a:solidFill>
                <a:latin typeface="Arial"/>
              </a:rPr>
              <a:t>It checks untrusted text and files before the model sees them,
neutralises the hidden instruction, and still lets the ordinary text through.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" y="4352544"/>
            <a:ext cx="6949440" cy="7772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4297680"/>
            <a:ext cx="6949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407408"/>
            <a:ext cx="1188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5B667A"/>
                </a:solidFill>
                <a:latin typeface="Arial"/>
              </a:rPr>
              <a:t>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63440"/>
            <a:ext cx="64922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https://github.com/Sohamsurve/PrmoptShield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7315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0E1726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5B667A"/>
                </a:solidFill>
                <a:latin typeface="Arial"/>
              </a:rPr>
              <a:t>Agents treat retrieved content as instructions.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609344"/>
            <a:ext cx="3611880" cy="320040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361188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E1726"/>
                </a:solidFill>
                <a:latin typeface="Arial"/>
              </a:rPr>
              <a:t>Hidden instruction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31546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A line in an email, PDF, or web page can override the task the user actually asked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609344"/>
            <a:ext cx="3611880" cy="320040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1188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783080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3317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E1726"/>
                </a:solidFill>
                <a:latin typeface="Arial"/>
              </a:rPr>
              <a:t>Side effect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108960"/>
            <a:ext cx="31546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The same line can ask the agent to reveal a secret or call a tool such as send-email.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4" y="1609344"/>
            <a:ext cx="3611880" cy="320040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554480"/>
            <a:ext cx="361188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783080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317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E1726"/>
                </a:solidFill>
                <a:latin typeface="Arial"/>
              </a:rPr>
              <a:t>Wrong 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108960"/>
            <a:ext cx="31546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A toxicity filter does not catch this. Tool permissions still matter, and this firewall does not replace them.</a:t>
            </a:r>
          </a:p>
        </p:txBody>
      </p:sp>
      <p:pic>
        <p:nvPicPr>
          <p:cNvPr id="20" name="Picture 19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2  / 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0E1726"/>
                </a:solidFill>
                <a:latin typeface="Arial"/>
              </a:rPr>
              <a:t>What the prototype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106424"/>
            <a:ext cx="7589520" cy="10058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5895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19"/>
            <a:ext cx="7132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Scan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27048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Every prompt and file is checked before it reaches the agent.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2249424"/>
            <a:ext cx="7589520" cy="10058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75895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31720"/>
            <a:ext cx="7132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Redact the span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70048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Only the offending sentence is removed. The rest of the document stays.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392424"/>
            <a:ext cx="7589520" cy="10058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337560"/>
            <a:ext cx="75895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474720"/>
            <a:ext cx="7132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Safe alternative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813048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On block or quarantine, the caller gets the benign remainder, not the attack.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4535424"/>
            <a:ext cx="7589520" cy="10058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480560"/>
            <a:ext cx="75895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617720"/>
            <a:ext cx="7132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Tool firewall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956048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A tainted send-email is denied even when text scanning is switched off.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105156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Five answers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75904" y="1563624"/>
            <a:ext cx="3383280" cy="65836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21040" y="1508760"/>
            <a:ext cx="338328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0" y="1508760"/>
            <a:ext cx="109728" cy="658368"/>
          </a:xfrm>
          <a:prstGeom prst="rect">
            <a:avLst/>
          </a:prstGeom>
          <a:solidFill>
            <a:srgbClr val="138A5B"/>
          </a:solidFill>
          <a:ln>
            <a:solidFill>
              <a:srgbClr val="138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0" y="1673351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38A5B"/>
                </a:solidFill>
                <a:latin typeface="Arial"/>
              </a:rPr>
              <a:t>Allowed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75904" y="2340864"/>
            <a:ext cx="3383280" cy="65836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21040" y="2286000"/>
            <a:ext cx="338328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21040" y="2286000"/>
            <a:ext cx="109728" cy="658368"/>
          </a:xfrm>
          <a:prstGeom prst="rect">
            <a:avLst/>
          </a:prstGeom>
          <a:solidFill>
            <a:srgbClr val="B26B00"/>
          </a:solidFill>
          <a:ln>
            <a:solidFill>
              <a:srgbClr val="B2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2450592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26B00"/>
                </a:solidFill>
                <a:latin typeface="Arial"/>
              </a:rPr>
              <a:t>Sanitised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3118103"/>
            <a:ext cx="3383280" cy="65836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3063239"/>
            <a:ext cx="338328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21040" y="3063239"/>
            <a:ext cx="109728" cy="658368"/>
          </a:xfrm>
          <a:prstGeom prst="rect">
            <a:avLst/>
          </a:prstGeom>
          <a:solidFill>
            <a:srgbClr val="0B7BA7"/>
          </a:solidFill>
          <a:ln>
            <a:solidFill>
              <a:srgbClr val="0B7B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0" y="3227832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7BA7"/>
                </a:solidFill>
                <a:latin typeface="Arial"/>
              </a:rPr>
              <a:t>Quarantined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75904" y="3895343"/>
            <a:ext cx="3383280" cy="65836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21040" y="3840479"/>
            <a:ext cx="338328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21040" y="3840479"/>
            <a:ext cx="109728" cy="658368"/>
          </a:xfrm>
          <a:prstGeom prst="rect">
            <a:avLst/>
          </a:prstGeom>
          <a:solidFill>
            <a:srgbClr val="C62839"/>
          </a:solidFill>
          <a:ln>
            <a:solidFill>
              <a:srgbClr val="C628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0" y="4005071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C62839"/>
                </a:solidFill>
                <a:latin typeface="Arial"/>
              </a:rPr>
              <a:t>Blocked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75904" y="4672583"/>
            <a:ext cx="3383280" cy="65836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21040" y="4617720"/>
            <a:ext cx="338328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321040" y="4617720"/>
            <a:ext cx="109728" cy="658368"/>
          </a:xfrm>
          <a:prstGeom prst="rect">
            <a:avLst/>
          </a:prstGeom>
          <a:solidFill>
            <a:srgbClr val="A4237A"/>
          </a:solidFill>
          <a:ln>
            <a:solidFill>
              <a:srgbClr val="A42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0" y="4782312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A4237A"/>
                </a:solidFill>
                <a:latin typeface="Arial"/>
              </a:rPr>
              <a:t>Needs review</a:t>
            </a:r>
          </a:p>
        </p:txBody>
      </p:sp>
      <p:pic>
        <p:nvPicPr>
          <p:cNvPr id="41" name="Picture 40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3  / 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0E1726"/>
                </a:solidFill>
                <a:latin typeface="Arial"/>
              </a:rPr>
              <a:t>How one scan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106424"/>
            <a:ext cx="11247120" cy="84124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12471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52728"/>
            <a:ext cx="457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161288"/>
            <a:ext cx="21945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Extract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280160"/>
            <a:ext cx="7863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Text, HTML, PDF, Word, email, Markdown, JSON, source, and images. Hidden text is surfaced.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" y="2066544"/>
            <a:ext cx="11247120" cy="84124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12471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12848"/>
            <a:ext cx="457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121408"/>
            <a:ext cx="21945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Detect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240280"/>
            <a:ext cx="7863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Signatures first, then a small classifier. Encoded text is decoded, with a depth cap.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3026664"/>
            <a:ext cx="11247120" cy="84124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971800"/>
            <a:ext cx="112471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72968"/>
            <a:ext cx="457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81528"/>
            <a:ext cx="21945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Decide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200400"/>
            <a:ext cx="7863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Fusion picks the verdict. The language-model judge never decides alone.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3986784"/>
            <a:ext cx="11247120" cy="84124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931920"/>
            <a:ext cx="112471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33088"/>
            <a:ext cx="457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041648"/>
            <a:ext cx="21945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Neutralise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4160520"/>
            <a:ext cx="7863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The span is redacted in the original text. A second scan checks the result.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4946903"/>
            <a:ext cx="11247120" cy="84124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892040"/>
            <a:ext cx="112471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093207"/>
            <a:ext cx="457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5001768"/>
            <a:ext cx="21945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Guard tools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5120640"/>
            <a:ext cx="7863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Before a side effect, the tool firewall checks taint, destination, and canaries.</a:t>
            </a:r>
          </a:p>
        </p:txBody>
      </p:sp>
      <p:pic>
        <p:nvPicPr>
          <p:cNvPr id="29" name="Picture 28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4  / 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0E1726"/>
                </a:solidFill>
                <a:latin typeface="Arial"/>
              </a:rPr>
              <a:t>What the video shows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197864"/>
            <a:ext cx="361188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361188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E1726"/>
                </a:solidFill>
                <a:latin typeface="Arial"/>
              </a:rPr>
              <a:t>Landing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One specimen email. Ultraviolet marks only the hidden instruction.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2544" y="1197864"/>
            <a:ext cx="361188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143000"/>
            <a:ext cx="361188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37160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78308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E1726"/>
                </a:solidFill>
                <a:latin typeface="Arial"/>
              </a:rPr>
              <a:t>Arena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2860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The same email, firewall off and on. The unprotected agent follows the hidden line.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3024" y="1197864"/>
            <a:ext cx="361188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143000"/>
            <a:ext cx="361188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37160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78308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E1726"/>
                </a:solidFill>
                <a:latin typeface="Arial"/>
              </a:rPr>
              <a:t>X-ray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2860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Revealed view, reason codes, and the safe alternative without the canary.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3529584"/>
            <a:ext cx="361188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474720"/>
            <a:ext cx="361188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0332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11480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E1726"/>
                </a:solidFill>
                <a:latin typeface="Arial"/>
              </a:rPr>
              <a:t>Clean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6177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A normal security article stays Allowed.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2544" y="3529584"/>
            <a:ext cx="361188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474720"/>
            <a:ext cx="361188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370332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11480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E1726"/>
                </a:solidFill>
                <a:latin typeface="Arial"/>
              </a:rPr>
              <a:t>Last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46177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Text scanning off. A tainted send-email is still denied.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93024" y="3529584"/>
            <a:ext cx="361188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8160" y="3474720"/>
            <a:ext cx="361188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370332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11480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E1726"/>
                </a:solidFill>
                <a:latin typeface="Arial"/>
              </a:rPr>
              <a:t>Accounts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6177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A caller scans a file. An admin sees each account’s usage.</a:t>
            </a:r>
          </a:p>
        </p:txBody>
      </p:sp>
      <p:pic>
        <p:nvPicPr>
          <p:cNvPr id="34" name="Picture 33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5  / 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972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E1726"/>
                </a:solidFill>
                <a:latin typeface="Arial"/>
              </a:rPr>
              <a:t>Measured on the frozen golden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Judge off. Shipped policy. 11 October 2026. Not tuned on these rows.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289304"/>
            <a:ext cx="274320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2743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24688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3200" b="1">
                <a:solidFill>
                  <a:srgbClr val="0E1726"/>
                </a:solidFill>
                <a:latin typeface="Arial"/>
              </a:rPr>
              <a:t>0.61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0E1726"/>
                </a:solidFill>
                <a:latin typeface="Arial"/>
              </a:rPr>
              <a:t>Acted recall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60320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5B667A"/>
                </a:solidFill>
                <a:latin typeface="Arial"/>
              </a:rPr>
              <a:t>900 attacks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8144" y="1289304"/>
            <a:ext cx="274320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234440"/>
            <a:ext cx="2743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417320"/>
            <a:ext cx="24688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3200" b="1">
                <a:solidFill>
                  <a:srgbClr val="0E1726"/>
                </a:solidFill>
                <a:latin typeface="Arial"/>
              </a:rPr>
              <a:t>0.48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148840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0E1726"/>
                </a:solidFill>
                <a:latin typeface="Arial"/>
              </a:rPr>
              <a:t>Correct 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60320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5B667A"/>
                </a:solidFill>
                <a:latin typeface="Arial"/>
              </a:rPr>
              <a:t>900 attacks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4224" y="1289304"/>
            <a:ext cx="274320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234440"/>
            <a:ext cx="2743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417320"/>
            <a:ext cx="24688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3200" b="1">
                <a:solidFill>
                  <a:srgbClr val="0E1726"/>
                </a:solidFill>
                <a:latin typeface="Arial"/>
              </a:rPr>
              <a:t>0 / 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148840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0E1726"/>
                </a:solidFill>
                <a:latin typeface="Arial"/>
              </a:rPr>
              <a:t>False positives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560320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5B667A"/>
                </a:solidFill>
                <a:latin typeface="Arial"/>
              </a:rPr>
              <a:t>Ordinary documents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90304" y="1289304"/>
            <a:ext cx="274320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2743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417320"/>
            <a:ext cx="24688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3200" b="1">
                <a:solidFill>
                  <a:srgbClr val="0E1726"/>
                </a:solidFill>
                <a:latin typeface="Arial"/>
              </a:rPr>
              <a:t>26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48840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0E1726"/>
                </a:solidFill>
                <a:latin typeface="Arial"/>
              </a:rPr>
              <a:t>Latency p95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560320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5B667A"/>
                </a:solidFill>
                <a:latin typeface="Arial"/>
              </a:rPr>
              <a:t>Without the judge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3529584"/>
            <a:ext cx="3611880" cy="155448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74720"/>
            <a:ext cx="3611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65760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Caught in full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114800"/>
            <a:ext cx="31546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Indirect injection, 100 of 100 on this suite.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52544" y="3529584"/>
            <a:ext cx="3611880" cy="155448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97680" y="3474720"/>
            <a:ext cx="3611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80" y="365760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Still weak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114800"/>
            <a:ext cx="31546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Multi-step jailbreaks: acted 0.35, correct type 0.00.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93024" y="3529584"/>
            <a:ext cx="3611880" cy="155448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474720"/>
            <a:ext cx="3611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66760" y="365760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Other pack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4114800"/>
            <a:ext cx="31546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Imported sentences: acted 0.18, false positives 0 of 32.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21208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B667A"/>
                </a:solidFill>
                <a:latin typeface="Arial"/>
              </a:rPr>
              <a:t>Full table: docs/CLAIMS.md  ·  Report: eval/golden/reports/20261011T090211Z</a:t>
            </a:r>
          </a:p>
        </p:txBody>
      </p:sp>
      <p:pic>
        <p:nvPicPr>
          <p:cNvPr id="38" name="Picture 37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6  / 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0E1726"/>
                </a:solidFill>
                <a:latin typeface="Arial"/>
              </a:rPr>
              <a:t>What we declare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106424"/>
            <a:ext cx="548640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548640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029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6A4DFF"/>
                </a:solidFill>
                <a:latin typeface="Arial"/>
              </a:rPr>
              <a:t>F1  /  D1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50292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Provisional. Nine attack types and the listed formats are in the product. An independent sealed run has not been scored.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3" y="1106424"/>
            <a:ext cx="548640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051560"/>
            <a:ext cx="548640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8016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C62839"/>
                </a:solidFill>
                <a:latin typeface="Arial"/>
              </a:rPr>
              <a:t>Not claimed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874519"/>
            <a:ext cx="50292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F3 and D3. Known-pattern recall of 0.95. Held-out recall of 0.85. A length-matched false-positive rate at or under 2 percent.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438144"/>
            <a:ext cx="11247120" cy="713232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0E1726"/>
                </a:solidFill>
                <a:latin typeface="Arial"/>
              </a:rPr>
              <a:t>Exact white-on-white text is not in the pixels, so OCR cannot read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4261104"/>
            <a:ext cx="11247120" cy="713232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206240"/>
            <a:ext cx="1124712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38912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0E1726"/>
                </a:solidFill>
                <a:latin typeface="Arial"/>
              </a:rPr>
              <a:t>The Arena agent is scripted. A live language-model agent was not the measured subject.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5084064"/>
            <a:ext cx="11247120" cy="713232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029200"/>
            <a:ext cx="1124712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21208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0E1726"/>
                </a:solidFill>
                <a:latin typeface="Arial"/>
              </a:rPr>
              <a:t>The judge can add a finding. It cannot block a document by itself.</a:t>
            </a:r>
          </a:p>
        </p:txBody>
      </p:sp>
      <p:pic>
        <p:nvPicPr>
          <p:cNvPr id="21" name="Picture 20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7  / 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A4DFF"/>
          </a:solidFill>
          <a:ln>
            <a:solidFill>
              <a:srgbClr val="6A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19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2011680"/>
            <a:ext cx="91440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>
                <a:solidFill>
                  <a:srgbClr val="0E1726"/>
                </a:solidFill>
                <a:latin typeface="Arial"/>
              </a:rPr>
              <a:t>PromptShield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0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>
                <a:solidFill>
                  <a:srgbClr val="0E1726"/>
                </a:solidFill>
                <a:latin typeface="Arial"/>
              </a:rPr>
              <a:t>Check the content. Remove the attack. Keep the document.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" y="3849624"/>
            <a:ext cx="6949440" cy="7772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3794760"/>
            <a:ext cx="6949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904487"/>
            <a:ext cx="1188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5B667A"/>
                </a:solidFill>
                <a:latin typeface="Arial"/>
              </a:rPr>
              <a:t>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60520"/>
            <a:ext cx="64922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https://github.com/Sohamsurve/PrmoptShield</a:t>
            </a:r>
          </a:p>
        </p:txBody>
      </p:sp>
      <p:pic>
        <p:nvPicPr>
          <p:cNvPr id="11" name="Picture 10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8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