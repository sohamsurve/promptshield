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A4DFF"/>
          </a:solidFill>
          <a:ln>
            <a:solidFill>
              <a:srgbClr val="6A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av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72768"/>
            <a:ext cx="1051560" cy="1051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83080" y="1417320"/>
            <a:ext cx="9144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6A4DFF"/>
                </a:solidFill>
                <a:latin typeface="Arial"/>
              </a:rPr>
              <a:t>ET AI HACKATHON  ·  AGENTIC EDITION  ·  PROBLEM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1737360"/>
            <a:ext cx="914400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400" b="1">
                <a:solidFill>
                  <a:srgbClr val="0E1726"/>
                </a:solidFill>
                <a:latin typeface="Arial"/>
              </a:rPr>
              <a:t>PromptShield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606040"/>
            <a:ext cx="91440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0">
                <a:solidFill>
                  <a:srgbClr val="0E1726"/>
                </a:solidFill>
                <a:latin typeface="Arial"/>
              </a:rPr>
              <a:t>A prompt-injection firewall for AI agents.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200400"/>
            <a:ext cx="91440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5B667A"/>
                </a:solidFill>
                <a:latin typeface="Arial"/>
              </a:rPr>
              <a:t>It checks untrusted text and files before the model sees them,
neutralises the hidden instruction, and still lets the ordinary text through.</a:t>
            </a:r>
          </a:p>
        </p:txBody>
      </p:sp>
      <p:sp>
        <p:nvSpPr>
          <p:cNvPr id="9" name="Rectangle 8"/>
          <p:cNvSpPr/>
          <p:nvPr/>
        </p:nvSpPr>
        <p:spPr>
          <a:xfrm>
            <a:off x="557784" y="4352544"/>
            <a:ext cx="7680960" cy="77724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4297680"/>
            <a:ext cx="768096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407408"/>
            <a:ext cx="11887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5B667A"/>
                </a:solidFill>
                <a:latin typeface="Arial"/>
              </a:rPr>
              <a:t>GitHub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663440"/>
            <a:ext cx="7315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E1726"/>
                </a:solidFill>
                <a:latin typeface="Arial"/>
              </a:rPr>
              <a:t>https://github.com/Sohamsurve/PromptShield.git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257800"/>
            <a:ext cx="9144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E1726"/>
                </a:solidFill>
                <a:latin typeface="Arial"/>
              </a:rPr>
              <a:t>Submitted by: Soham Y. Surve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73152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0E1726"/>
                </a:solidFill>
                <a:latin typeface="Arial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>
                <a:solidFill>
                  <a:srgbClr val="5B667A"/>
                </a:solidFill>
                <a:latin typeface="Arial"/>
              </a:rPr>
              <a:t>Agents treat retrieved content as instructions.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12064" y="1609344"/>
            <a:ext cx="3611880" cy="320040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3611880" cy="3200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83080"/>
            <a:ext cx="310896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6A4DFF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31720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0E1726"/>
                </a:solidFill>
                <a:latin typeface="Arial"/>
              </a:rPr>
              <a:t>Hidden instruction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108960"/>
            <a:ext cx="315468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5B667A"/>
                </a:solidFill>
                <a:latin typeface="Arial"/>
              </a:rPr>
              <a:t>A line in an email, PDF, or web page can override the task the user actually asked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52544" y="1609344"/>
            <a:ext cx="3611880" cy="320040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554480"/>
            <a:ext cx="3611880" cy="3200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783080"/>
            <a:ext cx="310896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6A4DFF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331720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0E1726"/>
                </a:solidFill>
                <a:latin typeface="Arial"/>
              </a:rPr>
              <a:t>Side effect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108960"/>
            <a:ext cx="315468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5B667A"/>
                </a:solidFill>
                <a:latin typeface="Arial"/>
              </a:rPr>
              <a:t>The same line can ask the agent to reveal a secret or call a tool such as send-email.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4" y="1609344"/>
            <a:ext cx="3611880" cy="320040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554480"/>
            <a:ext cx="3611880" cy="3200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1783080"/>
            <a:ext cx="310896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6A4DFF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331720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0E1726"/>
                </a:solidFill>
                <a:latin typeface="Arial"/>
              </a:rPr>
              <a:t>Wrong tool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3108960"/>
            <a:ext cx="315468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5B667A"/>
                </a:solidFill>
                <a:latin typeface="Arial"/>
              </a:rPr>
              <a:t>A toxicity filter does not catch this. Tool permissions still matter, and this firewall does not replace them.</a:t>
            </a:r>
          </a:p>
        </p:txBody>
      </p:sp>
      <p:pic>
        <p:nvPicPr>
          <p:cNvPr id="20" name="Picture 19" descr="fav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446520"/>
            <a:ext cx="292608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68096" y="6510528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5B667A"/>
                </a:solidFill>
                <a:latin typeface="Arial"/>
              </a:rPr>
              <a:t>PromptShield  ·  ET AI Hackathon  ·  Problem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510528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0">
                <a:solidFill>
                  <a:srgbClr val="5B667A"/>
                </a:solidFill>
                <a:latin typeface="Arial"/>
              </a:rPr>
              <a:t>2  / 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972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0E1726"/>
                </a:solidFill>
                <a:latin typeface="Arial"/>
              </a:rPr>
              <a:t>Key features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106424"/>
            <a:ext cx="7589520" cy="100584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758952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188719"/>
            <a:ext cx="7132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E1726"/>
                </a:solidFill>
                <a:latin typeface="Arial"/>
              </a:rPr>
              <a:t>Scan first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27048"/>
            <a:ext cx="7132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B667A"/>
                </a:solidFill>
                <a:latin typeface="Arial"/>
              </a:rPr>
              <a:t>Every prompt and file is checked before it reaches the agent.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" y="2249424"/>
            <a:ext cx="7589520" cy="100584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758952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331720"/>
            <a:ext cx="7132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E1726"/>
                </a:solidFill>
                <a:latin typeface="Arial"/>
              </a:rPr>
              <a:t>Redact the span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70048"/>
            <a:ext cx="7132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B667A"/>
                </a:solidFill>
                <a:latin typeface="Arial"/>
              </a:rPr>
              <a:t>Only the offending sentence is removed. The rest of the document stays.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" y="3392424"/>
            <a:ext cx="7589520" cy="100584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337560"/>
            <a:ext cx="758952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474720"/>
            <a:ext cx="7132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E1726"/>
                </a:solidFill>
                <a:latin typeface="Arial"/>
              </a:rPr>
              <a:t>Safe alternative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813048"/>
            <a:ext cx="7132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B667A"/>
                </a:solidFill>
                <a:latin typeface="Arial"/>
              </a:rPr>
              <a:t>On block or quarantine, the caller gets the benign remainder, not the attack.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64" y="4535424"/>
            <a:ext cx="7589520" cy="100584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4480560"/>
            <a:ext cx="758952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617720"/>
            <a:ext cx="7132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E1726"/>
                </a:solidFill>
                <a:latin typeface="Arial"/>
              </a:rPr>
              <a:t>Tool firewall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956048"/>
            <a:ext cx="7132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B667A"/>
                </a:solidFill>
                <a:latin typeface="Arial"/>
              </a:rPr>
              <a:t>A tainted send-email is denied even when text scanning is switched off.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1051560"/>
            <a:ext cx="32918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E1726"/>
                </a:solidFill>
                <a:latin typeface="Arial"/>
              </a:rPr>
              <a:t>Five answers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75904" y="1563624"/>
            <a:ext cx="3383280" cy="658368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321040" y="1508760"/>
            <a:ext cx="338328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21040" y="1508760"/>
            <a:ext cx="109728" cy="658368"/>
          </a:xfrm>
          <a:prstGeom prst="rect">
            <a:avLst/>
          </a:prstGeom>
          <a:solidFill>
            <a:srgbClr val="138A5B"/>
          </a:solidFill>
          <a:ln>
            <a:solidFill>
              <a:srgbClr val="138A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0" y="1673351"/>
            <a:ext cx="2926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138A5B"/>
                </a:solidFill>
                <a:latin typeface="Arial"/>
              </a:rPr>
              <a:t>Allowed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75904" y="2340864"/>
            <a:ext cx="3383280" cy="658368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321040" y="2286000"/>
            <a:ext cx="338328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321040" y="2286000"/>
            <a:ext cx="109728" cy="658368"/>
          </a:xfrm>
          <a:prstGeom prst="rect">
            <a:avLst/>
          </a:prstGeom>
          <a:solidFill>
            <a:srgbClr val="B26B00"/>
          </a:solidFill>
          <a:ln>
            <a:solidFill>
              <a:srgbClr val="B2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0" y="2450592"/>
            <a:ext cx="2926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B26B00"/>
                </a:solidFill>
                <a:latin typeface="Arial"/>
              </a:rPr>
              <a:t>Sanitised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75904" y="3118103"/>
            <a:ext cx="3383280" cy="658368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321040" y="3063239"/>
            <a:ext cx="338328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321040" y="3063239"/>
            <a:ext cx="109728" cy="658368"/>
          </a:xfrm>
          <a:prstGeom prst="rect">
            <a:avLst/>
          </a:prstGeom>
          <a:solidFill>
            <a:srgbClr val="0B7BA7"/>
          </a:solidFill>
          <a:ln>
            <a:solidFill>
              <a:srgbClr val="0B7B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95360" y="3227832"/>
            <a:ext cx="2926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7BA7"/>
                </a:solidFill>
                <a:latin typeface="Arial"/>
              </a:rPr>
              <a:t>Quarantined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375904" y="3895343"/>
            <a:ext cx="3383280" cy="658368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321040" y="3840479"/>
            <a:ext cx="338328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21040" y="3840479"/>
            <a:ext cx="109728" cy="658368"/>
          </a:xfrm>
          <a:prstGeom prst="rect">
            <a:avLst/>
          </a:prstGeom>
          <a:solidFill>
            <a:srgbClr val="C62839"/>
          </a:solidFill>
          <a:ln>
            <a:solidFill>
              <a:srgbClr val="C628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95360" y="4005071"/>
            <a:ext cx="2926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C62839"/>
                </a:solidFill>
                <a:latin typeface="Arial"/>
              </a:rPr>
              <a:t>Blocked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75904" y="4672583"/>
            <a:ext cx="3383280" cy="658368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321040" y="4617720"/>
            <a:ext cx="338328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321040" y="4617720"/>
            <a:ext cx="109728" cy="658368"/>
          </a:xfrm>
          <a:prstGeom prst="rect">
            <a:avLst/>
          </a:prstGeom>
          <a:solidFill>
            <a:srgbClr val="A4237A"/>
          </a:solidFill>
          <a:ln>
            <a:solidFill>
              <a:srgbClr val="A42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95360" y="4782312"/>
            <a:ext cx="2926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A4237A"/>
                </a:solidFill>
                <a:latin typeface="Arial"/>
              </a:rPr>
              <a:t>Needs review</a:t>
            </a:r>
          </a:p>
        </p:txBody>
      </p:sp>
      <p:pic>
        <p:nvPicPr>
          <p:cNvPr id="41" name="Picture 40" descr="fav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446520"/>
            <a:ext cx="292608" cy="29260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768096" y="6510528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5B667A"/>
                </a:solidFill>
                <a:latin typeface="Arial"/>
              </a:rPr>
              <a:t>PromptShield  ·  ET AI Hackathon  ·  Problem 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24160" y="6510528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0">
                <a:solidFill>
                  <a:srgbClr val="5B667A"/>
                </a:solidFill>
                <a:latin typeface="Arial"/>
              </a:rPr>
              <a:t>3  / 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09728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0E1726"/>
                </a:solidFill>
                <a:latin typeface="Arial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0972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5B667A"/>
                </a:solidFill>
                <a:latin typeface="Arial"/>
              </a:rPr>
              <a:t>Each step is an action, a decision, and the part of the demo that shows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12064" y="1197864"/>
            <a:ext cx="11247120" cy="841248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11247120" cy="841248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44168"/>
            <a:ext cx="4572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6A4D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344168"/>
            <a:ext cx="2011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E1726"/>
                </a:solidFill>
                <a:latin typeface="Arial"/>
              </a:rPr>
              <a:t>Extract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1344168"/>
            <a:ext cx="80467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B667A"/>
                </a:solidFill>
                <a:latin typeface="Arial"/>
              </a:rPr>
              <a:t>Hidden text is surfaced. No model. The specimen email marks only the hidden sentence.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" y="2157984"/>
            <a:ext cx="11247120" cy="841248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103120"/>
            <a:ext cx="11247120" cy="841248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304288"/>
            <a:ext cx="4572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6A4D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304288"/>
            <a:ext cx="2011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E1726"/>
                </a:solidFill>
                <a:latin typeface="Arial"/>
              </a:rPr>
              <a:t>Detect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304288"/>
            <a:ext cx="80467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B667A"/>
                </a:solidFill>
                <a:latin typeface="Arial"/>
              </a:rPr>
              <a:t>Signatures, then a small classifier. The judge may add a finding and never decides alone. X-ray shows the reason.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" y="3118104"/>
            <a:ext cx="11247120" cy="841248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063240"/>
            <a:ext cx="11247120" cy="841248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264408"/>
            <a:ext cx="4572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6A4D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264408"/>
            <a:ext cx="2011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E1726"/>
                </a:solidFill>
                <a:latin typeface="Arial"/>
              </a:rPr>
              <a:t>Decide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3264408"/>
            <a:ext cx="80467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B667A"/>
                </a:solidFill>
                <a:latin typeface="Arial"/>
              </a:rPr>
              <a:t>Fusion picks Allowed, Sanitised, Quarantined, Blocked, or Needs review. A quoted attack stays Allowed.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2064" y="4078224"/>
            <a:ext cx="11247120" cy="841248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023360"/>
            <a:ext cx="11247120" cy="841248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224528"/>
            <a:ext cx="4572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6A4D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4224528"/>
            <a:ext cx="2011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E1726"/>
                </a:solidFill>
                <a:latin typeface="Arial"/>
              </a:rPr>
              <a:t>Neutralise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4224528"/>
            <a:ext cx="80467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B667A"/>
                </a:solidFill>
                <a:latin typeface="Arial"/>
              </a:rPr>
              <a:t>Only the bad span is removed. The protected Arena lane keeps the ordinary mail.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5038344"/>
            <a:ext cx="11247120" cy="841248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11247120" cy="841248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184648"/>
            <a:ext cx="4572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6A4DFF"/>
                </a:solidFill>
                <a:latin typeface="Arial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5184648"/>
            <a:ext cx="2011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E1726"/>
                </a:solidFill>
                <a:latin typeface="Arial"/>
              </a:rPr>
              <a:t>Guard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3280" y="5184648"/>
            <a:ext cx="80467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B667A"/>
                </a:solidFill>
                <a:latin typeface="Arial"/>
              </a:rPr>
              <a:t>The tool firewall denies a tainted send-email even when text scanning is off.</a:t>
            </a:r>
          </a:p>
        </p:txBody>
      </p:sp>
      <p:pic>
        <p:nvPicPr>
          <p:cNvPr id="30" name="Picture 29" descr="fav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446520"/>
            <a:ext cx="292608" cy="29260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68096" y="6510528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5B667A"/>
                </a:solidFill>
                <a:latin typeface="Arial"/>
              </a:rPr>
              <a:t>PromptShield  ·  ET AI Hackathon  ·  Problem 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6510528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0">
                <a:solidFill>
                  <a:srgbClr val="5B667A"/>
                </a:solidFill>
                <a:latin typeface="Arial"/>
              </a:rPr>
              <a:t>4  / 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972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0E1726"/>
                </a:solidFill>
                <a:latin typeface="Arial"/>
              </a:rPr>
              <a:t>AI capabilities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5B667A"/>
                </a:solidFill>
                <a:latin typeface="Arial"/>
              </a:rPr>
              <a:t>What actually decides, and what the demo measured.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12064" y="1472184"/>
            <a:ext cx="5577840" cy="196596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557784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10972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6A4DFF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57400"/>
            <a:ext cx="50292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0E1726"/>
                </a:solidFill>
                <a:latin typeface="Arial"/>
              </a:rPr>
              <a:t>Signatures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50292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5B667A"/>
                </a:solidFill>
                <a:latin typeface="Arial"/>
              </a:rPr>
              <a:t>Deterministic rules run first. They name the span and the reason code.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64224" y="1472184"/>
            <a:ext cx="5577840" cy="196596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417320"/>
            <a:ext cx="557784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645920"/>
            <a:ext cx="10972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6A4DFF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057400"/>
            <a:ext cx="50292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0E1726"/>
                </a:solidFill>
                <a:latin typeface="Arial"/>
              </a:rPr>
              <a:t>Classifier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560320"/>
            <a:ext cx="50292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5B667A"/>
                </a:solidFill>
                <a:latin typeface="Arial"/>
              </a:rPr>
              <a:t>A small local model runs next. It is not a large language model.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" y="3666744"/>
            <a:ext cx="5577840" cy="196596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611880"/>
            <a:ext cx="557784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840480"/>
            <a:ext cx="10972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6A4DFF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51960"/>
            <a:ext cx="50292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0E1726"/>
                </a:solidFill>
                <a:latin typeface="Arial"/>
              </a:rPr>
              <a:t>Judge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754880"/>
            <a:ext cx="50292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5B667A"/>
                </a:solidFill>
                <a:latin typeface="Arial"/>
              </a:rPr>
              <a:t>An optional language model may add a finding in the gray zone. It cannot block a document by itself.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64224" y="3666744"/>
            <a:ext cx="5577840" cy="196596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09360" y="3611880"/>
            <a:ext cx="557784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3840480"/>
            <a:ext cx="10972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6A4DFF"/>
                </a:solidFill>
                <a:latin typeface="Arial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251960"/>
            <a:ext cx="50292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0E1726"/>
                </a:solidFill>
                <a:latin typeface="Arial"/>
              </a:rPr>
              <a:t>Demo agent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4754880"/>
            <a:ext cx="50292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5B667A"/>
                </a:solidFill>
                <a:latin typeface="Arial"/>
              </a:rPr>
              <a:t>The Arena agent is scripted, so the result repeats. A live model agent was not the measured subject.</a:t>
            </a:r>
          </a:p>
        </p:txBody>
      </p:sp>
      <p:pic>
        <p:nvPicPr>
          <p:cNvPr id="25" name="Picture 24" descr="fav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446520"/>
            <a:ext cx="292608" cy="2926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68096" y="6510528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5B667A"/>
                </a:solidFill>
                <a:latin typeface="Arial"/>
              </a:rPr>
              <a:t>PromptShield  ·  ET AI Hackathon  ·  Problem 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510528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0">
                <a:solidFill>
                  <a:srgbClr val="5B667A"/>
                </a:solidFill>
                <a:latin typeface="Arial"/>
              </a:rPr>
              <a:t>5  / 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972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0E1726"/>
                </a:solidFill>
                <a:latin typeface="Arial"/>
              </a:rPr>
              <a:t>Live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5B667A"/>
                </a:solidFill>
                <a:latin typeface="Arial"/>
              </a:rPr>
              <a:t>The working demo. Each case is a claim the prototype is allowed to show.</a:t>
            </a:r>
          </a:p>
        </p:txBody>
      </p:sp>
      <p:sp>
        <p:nvSpPr>
          <p:cNvPr id="5" name="Rectangle 4"/>
          <p:cNvSpPr/>
          <p:nvPr/>
        </p:nvSpPr>
        <p:spPr>
          <a:xfrm>
            <a:off x="512064" y="1472184"/>
            <a:ext cx="5577840" cy="196596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557784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10972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6A4DFF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57400"/>
            <a:ext cx="50292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0E1726"/>
                </a:solidFill>
                <a:latin typeface="Arial"/>
              </a:rPr>
              <a:t>Arena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50292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5B667A"/>
                </a:solidFill>
                <a:latin typeface="Arial"/>
              </a:rPr>
              <a:t>The same email, firewall off and on. The unprotected agent follows the hidden line.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64224" y="1472184"/>
            <a:ext cx="5577840" cy="196596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417320"/>
            <a:ext cx="557784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645920"/>
            <a:ext cx="10972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6A4DFF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057400"/>
            <a:ext cx="50292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0E1726"/>
                </a:solidFill>
                <a:latin typeface="Arial"/>
              </a:rPr>
              <a:t>X-ray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560320"/>
            <a:ext cx="50292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5B667A"/>
                </a:solidFill>
                <a:latin typeface="Arial"/>
              </a:rPr>
              <a:t>Revealed view, a reason code, and a safe alternative that does not keep the canary.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" y="3666744"/>
            <a:ext cx="5577840" cy="196596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611880"/>
            <a:ext cx="557784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840480"/>
            <a:ext cx="10972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6A4DFF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51960"/>
            <a:ext cx="50292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0E1726"/>
                </a:solidFill>
                <a:latin typeface="Arial"/>
              </a:rPr>
              <a:t>Clean pass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754880"/>
            <a:ext cx="50292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5B667A"/>
                </a:solidFill>
                <a:latin typeface="Arial"/>
              </a:rPr>
              <a:t>A security article that only quotes an attack stays Allowed.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64224" y="3666744"/>
            <a:ext cx="5577840" cy="196596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09360" y="3611880"/>
            <a:ext cx="557784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3840480"/>
            <a:ext cx="10972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6A4DFF"/>
                </a:solidFill>
                <a:latin typeface="Arial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251960"/>
            <a:ext cx="50292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0E1726"/>
                </a:solidFill>
                <a:latin typeface="Arial"/>
              </a:rPr>
              <a:t>Tool firewall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4754880"/>
            <a:ext cx="50292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5B667A"/>
                </a:solidFill>
                <a:latin typeface="Arial"/>
              </a:rPr>
              <a:t>Text scanning off. A tainted send-email is still denied.</a:t>
            </a:r>
          </a:p>
        </p:txBody>
      </p:sp>
      <p:pic>
        <p:nvPicPr>
          <p:cNvPr id="25" name="Picture 24" descr="fav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446520"/>
            <a:ext cx="292608" cy="2926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68096" y="6510528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5B667A"/>
                </a:solidFill>
                <a:latin typeface="Arial"/>
              </a:rPr>
              <a:t>PromptShield  ·  ET AI Hackathon  ·  Problem 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510528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0">
                <a:solidFill>
                  <a:srgbClr val="5B667A"/>
                </a:solidFill>
                <a:latin typeface="Arial"/>
              </a:rPr>
              <a:t>6  / 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09728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0E1726"/>
                </a:solidFill>
                <a:latin typeface="Arial"/>
              </a:rPr>
              <a:t>Measured on the frozen golden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0972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B667A"/>
                </a:solidFill>
                <a:latin typeface="Arial"/>
              </a:rPr>
              <a:t>Judge off. Shipped policy. 11 October 2026. Not tuned on these rows.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12064" y="1243584"/>
            <a:ext cx="2743200" cy="1874519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2743200" cy="1874519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25880"/>
            <a:ext cx="246888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3200" b="1">
                <a:solidFill>
                  <a:srgbClr val="0E1726"/>
                </a:solidFill>
                <a:latin typeface="Arial"/>
              </a:rPr>
              <a:t>0.61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24688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>
                <a:solidFill>
                  <a:srgbClr val="0E1726"/>
                </a:solidFill>
                <a:latin typeface="Arial"/>
              </a:rPr>
              <a:t>Acted recall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331720"/>
            <a:ext cx="24688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0">
                <a:solidFill>
                  <a:srgbClr val="5B667A"/>
                </a:solidFill>
                <a:latin typeface="Arial"/>
              </a:rPr>
              <a:t>900 attacks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8144" y="1243584"/>
            <a:ext cx="2743200" cy="1874519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3280" y="1188720"/>
            <a:ext cx="2743200" cy="1874519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325880"/>
            <a:ext cx="246888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3200" b="1">
                <a:solidFill>
                  <a:srgbClr val="0E1726"/>
                </a:solidFill>
                <a:latin typeface="Arial"/>
              </a:rPr>
              <a:t>0.48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1965960"/>
            <a:ext cx="24688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>
                <a:solidFill>
                  <a:srgbClr val="0E1726"/>
                </a:solidFill>
                <a:latin typeface="Arial"/>
              </a:rPr>
              <a:t>Correct type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331720"/>
            <a:ext cx="24688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0">
                <a:solidFill>
                  <a:srgbClr val="5B667A"/>
                </a:solidFill>
                <a:latin typeface="Arial"/>
              </a:rPr>
              <a:t>900 attacks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4224" y="1243584"/>
            <a:ext cx="2743200" cy="1874519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1188720"/>
            <a:ext cx="2743200" cy="1874519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325880"/>
            <a:ext cx="246888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3200" b="1">
                <a:solidFill>
                  <a:srgbClr val="0E1726"/>
                </a:solidFill>
                <a:latin typeface="Arial"/>
              </a:rPr>
              <a:t>0 / 500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1965960"/>
            <a:ext cx="24688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>
                <a:solidFill>
                  <a:srgbClr val="0E1726"/>
                </a:solidFill>
                <a:latin typeface="Arial"/>
              </a:rPr>
              <a:t>False positives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331720"/>
            <a:ext cx="24688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0">
                <a:solidFill>
                  <a:srgbClr val="5B667A"/>
                </a:solidFill>
                <a:latin typeface="Arial"/>
              </a:rPr>
              <a:t>Ordinary documents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90304" y="1243584"/>
            <a:ext cx="2743200" cy="1874519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35440" y="1188720"/>
            <a:ext cx="2743200" cy="1874519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2600" y="1325880"/>
            <a:ext cx="246888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3200" b="1">
                <a:solidFill>
                  <a:srgbClr val="0E1726"/>
                </a:solidFill>
                <a:latin typeface="Arial"/>
              </a:rPr>
              <a:t>26 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1965960"/>
            <a:ext cx="24688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>
                <a:solidFill>
                  <a:srgbClr val="0E1726"/>
                </a:solidFill>
                <a:latin typeface="Arial"/>
              </a:rPr>
              <a:t>Latency p95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2331720"/>
            <a:ext cx="24688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0">
                <a:solidFill>
                  <a:srgbClr val="5B667A"/>
                </a:solidFill>
                <a:latin typeface="Arial"/>
              </a:rPr>
              <a:t>Without the judge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3300984"/>
            <a:ext cx="3611880" cy="132588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246120"/>
            <a:ext cx="3611880" cy="132588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3383280"/>
            <a:ext cx="3154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E1726"/>
                </a:solidFill>
                <a:latin typeface="Arial"/>
              </a:rPr>
              <a:t>Caught in full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3794760"/>
            <a:ext cx="315468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B667A"/>
                </a:solidFill>
                <a:latin typeface="Arial"/>
              </a:rPr>
              <a:t>Indirect injection, 100 of 100 on this suite.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52544" y="3300984"/>
            <a:ext cx="3611880" cy="132588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97680" y="3246120"/>
            <a:ext cx="3611880" cy="132588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26280" y="3383280"/>
            <a:ext cx="3154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E1726"/>
                </a:solidFill>
                <a:latin typeface="Arial"/>
              </a:rPr>
              <a:t>Still weak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3794760"/>
            <a:ext cx="315468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B667A"/>
                </a:solidFill>
                <a:latin typeface="Arial"/>
              </a:rPr>
              <a:t>Multi-step jailbreaks: acted 0.35, correct type 0.00.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93024" y="3300984"/>
            <a:ext cx="3611880" cy="132588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38160" y="3246120"/>
            <a:ext cx="3611880" cy="132588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66760" y="3383280"/>
            <a:ext cx="3154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E1726"/>
                </a:solidFill>
                <a:latin typeface="Arial"/>
              </a:rPr>
              <a:t>Other pack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66760" y="3794760"/>
            <a:ext cx="315468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B667A"/>
                </a:solidFill>
                <a:latin typeface="Arial"/>
              </a:rPr>
              <a:t>Imported sentences: acted 0.18, false positives 0 of 32.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4754880"/>
            <a:ext cx="11247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0E1726"/>
                </a:solidFill>
                <a:latin typeface="Arial"/>
              </a:rPr>
              <a:t>Security: uploads are never executed. Demo tools are mocks. The judge never blocks a document by itself.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5166360"/>
            <a:ext cx="10972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5B667A"/>
                </a:solidFill>
                <a:latin typeface="Arial"/>
              </a:rPr>
              <a:t>Full table: docs/CLAIMS.md  ·  Report: eval/golden/reports/20261011T090211Z</a:t>
            </a:r>
          </a:p>
        </p:txBody>
      </p:sp>
      <p:pic>
        <p:nvPicPr>
          <p:cNvPr id="39" name="Picture 38" descr="fav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446520"/>
            <a:ext cx="292608" cy="292608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768096" y="6510528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5B667A"/>
                </a:solidFill>
                <a:latin typeface="Arial"/>
              </a:rPr>
              <a:t>PromptShield  ·  ET AI Hackathon  ·  Problem 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6510528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0">
                <a:solidFill>
                  <a:srgbClr val="5B667A"/>
                </a:solidFill>
                <a:latin typeface="Arial"/>
              </a:rPr>
              <a:t>7  / 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972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0E1726"/>
                </a:solidFill>
                <a:latin typeface="Arial"/>
              </a:rPr>
              <a:t>What we declare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106424"/>
            <a:ext cx="5486400" cy="210312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5486400" cy="210312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50292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6A4DFF"/>
                </a:solidFill>
                <a:latin typeface="Arial"/>
              </a:rPr>
              <a:t>F1  /  D1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50292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5B667A"/>
                </a:solidFill>
                <a:latin typeface="Arial"/>
              </a:rPr>
              <a:t>Provisional. Nine attack types and the listed formats are in the product. An independent sealed run has not been scored.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2783" y="1106424"/>
            <a:ext cx="5486400" cy="210312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051560"/>
            <a:ext cx="5486400" cy="210312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280160"/>
            <a:ext cx="50292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C62839"/>
                </a:solidFill>
                <a:latin typeface="Arial"/>
              </a:rPr>
              <a:t>Not claimed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874519"/>
            <a:ext cx="50292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5B667A"/>
                </a:solidFill>
                <a:latin typeface="Arial"/>
              </a:rPr>
              <a:t>F3 and D3. Known-pattern recall of 0.95. Held-out recall of 0.85. A length-matched false-positive rate at or under 2 percent.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" y="3438144"/>
            <a:ext cx="11247120" cy="713232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383280"/>
            <a:ext cx="11247120" cy="713232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566160"/>
            <a:ext cx="107899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0E1726"/>
                </a:solidFill>
                <a:latin typeface="Arial"/>
              </a:rPr>
              <a:t>Exact white-on-white text is not in the pixels, so OCR cannot read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" y="4261104"/>
            <a:ext cx="11247120" cy="713232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4206240"/>
            <a:ext cx="11247120" cy="713232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389120"/>
            <a:ext cx="107899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0E1726"/>
                </a:solidFill>
                <a:latin typeface="Arial"/>
              </a:rPr>
              <a:t>The Arena agent is scripted. A live language-model agent was not the measured subject.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2064" y="5084064"/>
            <a:ext cx="11247120" cy="713232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5029200"/>
            <a:ext cx="11247120" cy="713232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5212080"/>
            <a:ext cx="107899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0E1726"/>
                </a:solidFill>
                <a:latin typeface="Arial"/>
              </a:rPr>
              <a:t>The judge can add a finding. It cannot block a document by itself.</a:t>
            </a:r>
          </a:p>
        </p:txBody>
      </p:sp>
      <p:pic>
        <p:nvPicPr>
          <p:cNvPr id="21" name="Picture 20" descr="fav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446520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68096" y="6510528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5B667A"/>
                </a:solidFill>
                <a:latin typeface="Arial"/>
              </a:rPr>
              <a:t>PromptShield  ·  ET AI Hackathon  ·  Problem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510528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0">
                <a:solidFill>
                  <a:srgbClr val="5B667A"/>
                </a:solidFill>
                <a:latin typeface="Arial"/>
              </a:rPr>
              <a:t>8  / 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972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0E1726"/>
                </a:solidFill>
                <a:latin typeface="Arial"/>
              </a:rPr>
              <a:t>Business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5B667A"/>
                </a:solidFill>
                <a:latin typeface="Arial"/>
              </a:rPr>
              <a:t>What changes on the path in front of the model. No market numbers.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12064" y="1472184"/>
            <a:ext cx="5577840" cy="196596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557784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10972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6A4DFF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57400"/>
            <a:ext cx="50292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E1726"/>
                </a:solidFill>
                <a:latin typeface="Arial"/>
              </a:rPr>
              <a:t>The task stays the user's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50292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5B667A"/>
                </a:solidFill>
                <a:latin typeface="Arial"/>
              </a:rPr>
              <a:t>The hidden forward does not run. The agent keeps the job it was given.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64224" y="1472184"/>
            <a:ext cx="5577840" cy="196596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417320"/>
            <a:ext cx="557784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645920"/>
            <a:ext cx="10972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6A4DFF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057400"/>
            <a:ext cx="50292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E1726"/>
                </a:solidFill>
                <a:latin typeface="Arial"/>
              </a:rPr>
              <a:t>The document stays usable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560320"/>
            <a:ext cx="50292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5B667A"/>
                </a:solidFill>
                <a:latin typeface="Arial"/>
              </a:rPr>
              <a:t>On the frozen suite, 500 ordinary documents stayed allowed.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" y="3666744"/>
            <a:ext cx="5577840" cy="196596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611880"/>
            <a:ext cx="557784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840480"/>
            <a:ext cx="10972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6A4DFF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51960"/>
            <a:ext cx="50292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E1726"/>
                </a:solidFill>
                <a:latin typeface="Arial"/>
              </a:rPr>
              <a:t>Side effects fail closed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754880"/>
            <a:ext cx="50292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5B667A"/>
                </a:solidFill>
                <a:latin typeface="Arial"/>
              </a:rPr>
              <a:t>A tainted send-email is denied even when text scanning is off.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64224" y="3666744"/>
            <a:ext cx="5577840" cy="196596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09360" y="3611880"/>
            <a:ext cx="557784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3840480"/>
            <a:ext cx="10972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6A4DFF"/>
                </a:solidFill>
                <a:latin typeface="Arial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251960"/>
            <a:ext cx="50292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E1726"/>
                </a:solidFill>
                <a:latin typeface="Arial"/>
              </a:rPr>
              <a:t>Any agent, one check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4754880"/>
            <a:ext cx="50292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5B667A"/>
                </a:solidFill>
                <a:latin typeface="Arial"/>
              </a:rPr>
              <a:t>The same API sits in front of the model's own client. PromptShield does not replace the model.</a:t>
            </a:r>
          </a:p>
        </p:txBody>
      </p:sp>
      <p:pic>
        <p:nvPicPr>
          <p:cNvPr id="25" name="Picture 24" descr="fav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446520"/>
            <a:ext cx="292608" cy="2926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68096" y="6510528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5B667A"/>
                </a:solidFill>
                <a:latin typeface="Arial"/>
              </a:rPr>
              <a:t>PromptShield  ·  ET AI Hackathon  ·  Problem 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510528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0">
                <a:solidFill>
                  <a:srgbClr val="5B667A"/>
                </a:solidFill>
                <a:latin typeface="Arial"/>
              </a:rPr>
              <a:t>9  / 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A4DFF"/>
          </a:solidFill>
          <a:ln>
            <a:solidFill>
              <a:srgbClr val="6A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av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11480"/>
            <a:ext cx="77724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63040" y="457200"/>
            <a:ext cx="73152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000" b="1">
                <a:solidFill>
                  <a:srgbClr val="0E1726"/>
                </a:solidFill>
                <a:latin typeface="Arial"/>
              </a:rPr>
              <a:t>PromptShield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2588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>
                <a:solidFill>
                  <a:srgbClr val="0E1726"/>
                </a:solidFill>
                <a:latin typeface="Arial"/>
              </a:rPr>
              <a:t>Check the content. Remove the attack. Keep the document.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57784" y="2020824"/>
            <a:ext cx="2743200" cy="132588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965960"/>
            <a:ext cx="2743200" cy="132588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23774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6A4DFF"/>
                </a:solidFill>
                <a:latin typeface="Arial"/>
              </a:rPr>
              <a:t>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514600"/>
            <a:ext cx="237744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0E1726"/>
                </a:solidFill>
                <a:latin typeface="Arial"/>
              </a:rPr>
              <a:t>Python and FastAPI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38144" y="2020824"/>
            <a:ext cx="2743200" cy="132588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1965960"/>
            <a:ext cx="2743200" cy="132588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2103120"/>
            <a:ext cx="23774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6A4DFF"/>
                </a:solidFill>
                <a:latin typeface="Arial"/>
              </a:rPr>
              <a:t>Console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514600"/>
            <a:ext cx="237744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0E1726"/>
                </a:solidFill>
                <a:latin typeface="Arial"/>
              </a:rPr>
              <a:t>Next.js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18503" y="2020824"/>
            <a:ext cx="2743200" cy="132588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1965960"/>
            <a:ext cx="2743200" cy="132588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2103120"/>
            <a:ext cx="23774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6A4DFF"/>
                </a:solidFill>
                <a:latin typeface="Arial"/>
              </a:rPr>
              <a:t>Detection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514600"/>
            <a:ext cx="237744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0E1726"/>
                </a:solidFill>
                <a:latin typeface="Arial"/>
              </a:rPr>
              <a:t>Signatures, then a small classifier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98864" y="2020824"/>
            <a:ext cx="2743200" cy="132588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4000" y="1965960"/>
            <a:ext cx="2743200" cy="132588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0" y="2103120"/>
            <a:ext cx="23774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6A4DFF"/>
                </a:solidFill>
                <a:latin typeface="Arial"/>
              </a:rPr>
              <a:t>Demo store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2514600"/>
            <a:ext cx="237744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0E1726"/>
                </a:solidFill>
                <a:latin typeface="Arial"/>
              </a:rPr>
              <a:t>SQLite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57784" y="3621024"/>
            <a:ext cx="7680960" cy="77724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3566160"/>
            <a:ext cx="768096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675887"/>
            <a:ext cx="11887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5B667A"/>
                </a:solidFill>
                <a:latin typeface="Arial"/>
              </a:rPr>
              <a:t>GitHub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3931920"/>
            <a:ext cx="7315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E1726"/>
                </a:solidFill>
                <a:latin typeface="Arial"/>
              </a:rPr>
              <a:t>https://github.com/Sohamsurve/PromptShield.git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4526280"/>
            <a:ext cx="9144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E1726"/>
                </a:solidFill>
                <a:latin typeface="Arial"/>
              </a:rPr>
              <a:t>Submitted by: Soham Y. Surve</a:t>
            </a:r>
          </a:p>
        </p:txBody>
      </p:sp>
      <p:pic>
        <p:nvPicPr>
          <p:cNvPr id="28" name="Picture 27" descr="fav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446520"/>
            <a:ext cx="292608" cy="29260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8096" y="6510528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5B667A"/>
                </a:solidFill>
                <a:latin typeface="Arial"/>
              </a:rPr>
              <a:t>PromptShield  ·  ET AI Hackathon  ·  Problem 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6510528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0">
                <a:solidFill>
                  <a:srgbClr val="5B667A"/>
                </a:solidFill>
                <a:latin typeface="Arial"/>
              </a:rPr>
              <a:t>10  / 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